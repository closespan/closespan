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inkedin.com/in/shanmukhsain" TargetMode="External"/><Relationship Id="rId3" Type="http://schemas.openxmlformats.org/officeDocument/2006/relationships/hyperlink" Target="https://www.linkedin.com/in/ali-amjad-a80732137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BF4"/>
                </a:solidFill>
                <a:latin typeface="Georgia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AA3B5"/>
                </a:solidFill>
                <a:latin typeface="Calibri"/>
              </a:rPr>
              <a:t>Building CloseSpan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29200" cy="3657600"/>
          </a:xfrm>
          <a:prstGeom prst="roundRect">
            <a:avLst>
              <a:gd name="adj" fmla="val 8000"/>
            </a:avLst>
          </a:prstGeom>
          <a:solidFill>
            <a:srgbClr val="161C2A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331720"/>
            <a:ext cx="960120" cy="960120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960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8EBF4"/>
                </a:solidFill>
                <a:latin typeface="Georgia"/>
              </a:rPr>
              <a:t>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EBF4"/>
                </a:solidFill>
                <a:latin typeface="Georgia"/>
              </a:rPr>
              <a:t>Shanmukh Karri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611880"/>
            <a:ext cx="4206240" cy="127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AA3B5"/>
                </a:solidFill>
                <a:latin typeface="Calibri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8EBF4"/>
                </a:solidFill>
                <a:latin typeface="Calibri"/>
              </a:rPr>
              <a:t>shanmukhsain@gmail.com</a:t>
            </a:r>
          </a:p>
        </p:txBody>
      </p:sp>
      <p:sp>
        <p:nvSpPr>
          <p:cNvPr id="13" name="Rounded Rectangle 12">
            <a:hlinkClick r:id="rId2"/>
          </p:cNvPr>
          <p:cNvSpPr/>
          <p:nvPr/>
        </p:nvSpPr>
        <p:spPr>
          <a:xfrm>
            <a:off x="1188720" y="47548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18888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8EBF4"/>
                </a:solidFill>
                <a:latin typeface="Calibri"/>
              </a:rPr>
              <a:t>LinkedIn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029200" cy="3657600"/>
          </a:xfrm>
          <a:prstGeom prst="roundRect">
            <a:avLst>
              <a:gd name="adj" fmla="val 8000"/>
            </a:avLst>
          </a:prstGeom>
          <a:solidFill>
            <a:srgbClr val="161C2A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29400" y="2331720"/>
            <a:ext cx="960120" cy="960120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542032"/>
            <a:ext cx="960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8EBF4"/>
                </a:solidFill>
                <a:latin typeface="Georgia"/>
              </a:rPr>
              <a:t>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EBF4"/>
                </a:solidFill>
                <a:latin typeface="Georgia"/>
              </a:rPr>
              <a:t>Ali Amjad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3611880"/>
            <a:ext cx="4206240" cy="12700"/>
          </a:xfrm>
          <a:prstGeom prst="rect">
            <a:avLst/>
          </a:prstGeom>
          <a:solidFill>
            <a:srgbClr val="2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840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AA3B5"/>
                </a:solidFill>
                <a:latin typeface="Calibri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114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8EBF4"/>
                </a:solidFill>
                <a:latin typeface="Calibri"/>
              </a:rPr>
              <a:t>ali.amjad52114@gmail.com</a:t>
            </a:r>
          </a:p>
        </p:txBody>
      </p:sp>
      <p:sp>
        <p:nvSpPr>
          <p:cNvPr id="22" name="Rounded Rectangle 21">
            <a:hlinkClick r:id="rId3"/>
          </p:cNvPr>
          <p:cNvSpPr/>
          <p:nvPr/>
        </p:nvSpPr>
        <p:spPr>
          <a:xfrm>
            <a:off x="6629400" y="47548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818888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8EBF4"/>
                </a:solidFill>
                <a:latin typeface="Calibri"/>
              </a:rPr>
              <a:t>LinkedIn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925"/>
                </a:solidFill>
                <a:latin typeface="Georgia"/>
              </a:rPr>
              <a:t>Close</a:t>
            </a:r>
            <a:r>
              <a:rPr sz="3200" b="1">
                <a:solidFill>
                  <a:srgbClr val="5146E5"/>
                </a:solidFill>
                <a:latin typeface="Georgia"/>
              </a:rPr>
              <a:t>Span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5029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A7386"/>
                </a:solidFill>
                <a:latin typeface="Calibri"/>
              </a:rPr>
              <a:t>FEEDBACK-TO-FIX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925"/>
                </a:solidFill>
                <a:latin typeface="Georgia"/>
              </a:rPr>
              <a:t>Resolve the defects customers feel before they become churn.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4658"/>
                </a:solidFill>
                <a:latin typeface="Calibri"/>
              </a:rPr>
              <a:t>CloseSpan turns support feedback into prioritized product problems, engineering-ready evidence, approved actions, and verified fixes — then closes the loop with affected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188720"/>
            <a:ext cx="45720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371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A7386"/>
                </a:solidFill>
                <a:latin typeface="Calibri"/>
              </a:rPr>
              <a:t>MUST-WIN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7830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146E5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925"/>
                </a:solidFill>
                <a:latin typeface="Calibri"/>
              </a:rPr>
              <a:t>Cluster</a:t>
            </a:r>
          </a:p>
          <a:p>
            <a:r>
              <a:rPr sz="1100" b="0">
                <a:solidFill>
                  <a:srgbClr val="6A7386"/>
                </a:solidFill>
                <a:latin typeface="Calibri"/>
              </a:rPr>
              <a:t>Group related tickets across Zendesk / Intercom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4414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146E5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44144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925"/>
                </a:solidFill>
                <a:latin typeface="Calibri"/>
              </a:rPr>
              <a:t>Prioritize</a:t>
            </a:r>
          </a:p>
          <a:p>
            <a:r>
              <a:rPr sz="1100" b="0">
                <a:solidFill>
                  <a:srgbClr val="6A7386"/>
                </a:solidFill>
                <a:latin typeface="Calibri"/>
              </a:rPr>
              <a:t>Attach account, ARR, and renewal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099815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146E5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99815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925"/>
                </a:solidFill>
                <a:latin typeface="Calibri"/>
              </a:rPr>
              <a:t>Approve</a:t>
            </a:r>
          </a:p>
          <a:p>
            <a:r>
              <a:rPr sz="1100" b="0">
                <a:solidFill>
                  <a:srgbClr val="6A7386"/>
                </a:solidFill>
                <a:latin typeface="Calibri"/>
              </a:rPr>
              <a:t>Human gate before any external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758183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146E5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58183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925"/>
                </a:solidFill>
                <a:latin typeface="Calibri"/>
              </a:rPr>
              <a:t>Ship &amp; verify</a:t>
            </a:r>
          </a:p>
          <a:p>
            <a:r>
              <a:rPr sz="1100" b="0">
                <a:solidFill>
                  <a:srgbClr val="6A7386"/>
                </a:solidFill>
                <a:latin typeface="Calibri"/>
              </a:rPr>
              <a:t>Evidence pack → eng work → confirm the fix landed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416551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146E5"/>
                </a:solidFill>
                <a:latin typeface="Georg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41655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1925"/>
                </a:solidFill>
                <a:latin typeface="Calibri"/>
              </a:rPr>
              <a:t>Follow up</a:t>
            </a:r>
          </a:p>
          <a:p>
            <a:r>
              <a:rPr sz="1100" b="0">
                <a:solidFill>
                  <a:srgbClr val="6A7386"/>
                </a:solidFill>
                <a:latin typeface="Calibri"/>
              </a:rPr>
              <a:t>Close conversations with the accounts that reported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89320"/>
            <a:ext cx="2011680" cy="384048"/>
          </a:xfrm>
          <a:prstGeom prst="roundRect">
            <a:avLst>
              <a:gd name="adj" fmla="val 12000"/>
            </a:avLst>
          </a:prstGeom>
          <a:solidFill>
            <a:srgbClr val="EBE9FF"/>
          </a:solidFill>
          <a:ln w="12700">
            <a:solidFill>
              <a:srgbClr val="C8C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167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F35C3"/>
                </a:solidFill>
                <a:latin typeface="Calibri"/>
              </a:rPr>
              <a:t>Mid-market B2B SaaS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598932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6016752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4658"/>
                </a:solidFill>
                <a:latin typeface="Calibri"/>
              </a:rPr>
              <a:t>Support + Product 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5989320"/>
            <a:ext cx="42062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6016752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4658"/>
                </a:solidFill>
                <a:latin typeface="Calibri"/>
              </a:rPr>
              <a:t>Sits above Zendesk · Intercom · GitHub · Linear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925"/>
                </a:solidFill>
                <a:latin typeface="Georgia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D4658"/>
                </a:solidFill>
                <a:latin typeface="Calibri"/>
              </a:rPr>
              <a:t>From support ticket spike to verified fix — in one governed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418320" cy="416052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 w="12700">
            <a:solidFill>
              <a:srgbClr val="2A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00200" y="1783080"/>
            <a:ext cx="8961120" cy="3200400"/>
          </a:xfrm>
          <a:prstGeom prst="roundRect">
            <a:avLst>
              <a:gd name="adj" fmla="val 5000"/>
            </a:avLst>
          </a:prstGeom>
          <a:solidFill>
            <a:srgbClr val="16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23560" y="2834640"/>
            <a:ext cx="960120" cy="960120"/>
          </a:xfrm>
          <a:prstGeom prst="ellipse">
            <a:avLst/>
          </a:prstGeom>
          <a:solidFill>
            <a:srgbClr val="51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2999232"/>
            <a:ext cx="960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8EBF4"/>
                </a:solidFill>
                <a:latin typeface="Calibri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07492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9AA3B5"/>
                </a:solidFill>
                <a:latin typeface="Calibri"/>
              </a:rPr>
              <a:t>Add your video here → Insert → Video → paste Loom / YouTube / Drive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A7386"/>
                </a:solidFill>
                <a:latin typeface="Calibri"/>
              </a:rPr>
              <a:t>CloseSpan  ·  closespan.com  ·  hello@closespan.com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