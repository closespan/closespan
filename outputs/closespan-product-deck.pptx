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3f21c904e54623" /><Relationship Type="http://schemas.openxmlformats.org/officeDocument/2006/relationships/extended-properties" Target="/docProps/app.xml" Id="Ra5920ed74e9f471a" /><Relationship Type="http://schemas.openxmlformats.org/officeDocument/2006/relationships/officeDocument" Target="/ppt/presentation.xml" Id="Rcdd00fbea80144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256f633ae04a47"/>
  </p:sldMasterIdLst>
  <p:notesMasterIdLst>
    <p:notesMasterId xmlns:r="http://schemas.openxmlformats.org/officeDocument/2006/relationships" r:id="R1b4bea3d32d44eea"/>
  </p:notesMasterIdLst>
  <p:sldIdLst>
    <p:sldId xmlns:r="http://schemas.openxmlformats.org/officeDocument/2006/relationships" id="256" r:id="R216e7d74f54c4ae0"/>
    <p:sldId xmlns:r="http://schemas.openxmlformats.org/officeDocument/2006/relationships" id="257" r:id="R72450709d0424c93"/>
    <p:sldId xmlns:r="http://schemas.openxmlformats.org/officeDocument/2006/relationships" id="258" r:id="R1be7e35e62d54743"/>
    <p:sldId xmlns:r="http://schemas.openxmlformats.org/officeDocument/2006/relationships" id="259" r:id="R7b96cce3a8524e96"/>
    <p:sldId xmlns:r="http://schemas.openxmlformats.org/officeDocument/2006/relationships" id="260" r:id="Rb070db1784944fcf"/>
    <p:sldId xmlns:r="http://schemas.openxmlformats.org/officeDocument/2006/relationships" id="261" r:id="R94bf72be3c634908"/>
    <p:sldId xmlns:r="http://schemas.openxmlformats.org/officeDocument/2006/relationships" id="262" r:id="Rac1189cbb89241f5"/>
    <p:sldId xmlns:r="http://schemas.openxmlformats.org/officeDocument/2006/relationships" id="263" r:id="Re3e3caf59e4e4988"/>
    <p:sldId xmlns:r="http://schemas.openxmlformats.org/officeDocument/2006/relationships" id="264" r:id="Rf6831252d86c41a2"/>
    <p:sldId xmlns:r="http://schemas.openxmlformats.org/officeDocument/2006/relationships" id="265" r:id="R4c1a0125cda94e63"/>
    <p:sldId xmlns:r="http://schemas.openxmlformats.org/officeDocument/2006/relationships" id="266" r:id="R344cd11c7f3a425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ceddc339bf4cf8" /><Relationship Type="http://schemas.openxmlformats.org/officeDocument/2006/relationships/slideMaster" Target="/ppt/slideMasters/slideMaster1.xml" Id="R3d256f633ae04a47" /><Relationship Type="http://schemas.openxmlformats.org/officeDocument/2006/relationships/notesMaster" Target="/ppt/notesMasters/notesMaster1.xml" Id="R1b4bea3d32d44eea" /><Relationship Type="http://schemas.openxmlformats.org/officeDocument/2006/relationships/presProps" Target="/ppt/presProps.xml" Id="Rb212e6dabf904d1a" /><Relationship Type="http://schemas.openxmlformats.org/officeDocument/2006/relationships/tableStyles" Target="/ppt/tableStyles.xml" Id="Rd185ca9d1b894d80" /><Relationship Type="http://schemas.openxmlformats.org/officeDocument/2006/relationships/slide" Target="/ppt/slides/slide1.xml" Id="R216e7d74f54c4ae0" /><Relationship Type="http://schemas.openxmlformats.org/officeDocument/2006/relationships/slide" Target="/ppt/slides/slide2.xml" Id="R72450709d0424c93" /><Relationship Type="http://schemas.openxmlformats.org/officeDocument/2006/relationships/slide" Target="/ppt/slides/slide3.xml" Id="R1be7e35e62d54743" /><Relationship Type="http://schemas.openxmlformats.org/officeDocument/2006/relationships/slide" Target="/ppt/slides/slide4.xml" Id="R7b96cce3a8524e96" /><Relationship Type="http://schemas.openxmlformats.org/officeDocument/2006/relationships/slide" Target="/ppt/slides/slide5.xml" Id="Rb070db1784944fcf" /><Relationship Type="http://schemas.openxmlformats.org/officeDocument/2006/relationships/slide" Target="/ppt/slides/slide6.xml" Id="R94bf72be3c634908" /><Relationship Type="http://schemas.openxmlformats.org/officeDocument/2006/relationships/slide" Target="/ppt/slides/slide7.xml" Id="Rac1189cbb89241f5" /><Relationship Type="http://schemas.openxmlformats.org/officeDocument/2006/relationships/slide" Target="/ppt/slides/slide8.xml" Id="Re3e3caf59e4e4988" /><Relationship Type="http://schemas.openxmlformats.org/officeDocument/2006/relationships/slide" Target="/ppt/slides/slide9.xml" Id="Rf6831252d86c41a2" /><Relationship Type="http://schemas.openxmlformats.org/officeDocument/2006/relationships/slide" Target="/ppt/slides/slide10.xml" Id="R4c1a0125cda94e63" /><Relationship Type="http://schemas.openxmlformats.org/officeDocument/2006/relationships/slide" Target="/ppt/slides/slide11.xml" Id="R344cd11c7f3a42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f10c63f271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c4153d9c1c40b3" /><Relationship Type="http://schemas.openxmlformats.org/officeDocument/2006/relationships/notesMaster" Target="/ppt/notesMasters/notesMaster1.xml" Id="R3ec54ed293214f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990990d8f94709" /><Relationship Type="http://schemas.openxmlformats.org/officeDocument/2006/relationships/notesMaster" Target="/ppt/notesMasters/notesMaster1.xml" Id="Rbc9caad060834a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dd7d228ff74a37" /><Relationship Type="http://schemas.openxmlformats.org/officeDocument/2006/relationships/notesMaster" Target="/ppt/notesMasters/notesMaster1.xml" Id="Rcf8ffeb86b2f4a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022212cda497e" /><Relationship Type="http://schemas.openxmlformats.org/officeDocument/2006/relationships/notesMaster" Target="/ppt/notesMasters/notesMaster1.xml" Id="Rdfa5daba94e845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8411ad84674a64" /><Relationship Type="http://schemas.openxmlformats.org/officeDocument/2006/relationships/notesMaster" Target="/ppt/notesMasters/notesMaster1.xml" Id="Rf242b1011e3f4e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a7c07e114b4cb5" /><Relationship Type="http://schemas.openxmlformats.org/officeDocument/2006/relationships/notesMaster" Target="/ppt/notesMasters/notesMaster1.xml" Id="R9eb6f5508d1048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5755cae58f4cb9" /><Relationship Type="http://schemas.openxmlformats.org/officeDocument/2006/relationships/notesMaster" Target="/ppt/notesMasters/notesMaster1.xml" Id="R5e2fda3d502c4d0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efe1fb7b23428b" /><Relationship Type="http://schemas.openxmlformats.org/officeDocument/2006/relationships/notesMaster" Target="/ppt/notesMasters/notesMaster1.xml" Id="R90c396e49dfb44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aad9716f7a4e38" /><Relationship Type="http://schemas.openxmlformats.org/officeDocument/2006/relationships/notesMaster" Target="/ppt/notesMasters/notesMaster1.xml" Id="R51b93a5cd47d4a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65575e95934647" /><Relationship Type="http://schemas.openxmlformats.org/officeDocument/2006/relationships/notesMaster" Target="/ppt/notesMasters/notesMaster1.xml" Id="R27abd727e48942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04b3fae8df4b28" /><Relationship Type="http://schemas.openxmlformats.org/officeDocument/2006/relationships/notesMaster" Target="/ppt/notesMasters/notesMaster1.xml" Id="Ra527f65f4e5340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69b98c8bb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a766c061c4712" /><Relationship Type="http://schemas.openxmlformats.org/officeDocument/2006/relationships/slideLayout" Target="/ppt/slideLayouts/slideLayout1.xml" Id="R339d00b755b046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9d00b755b046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8c3e48f65444d" /><Relationship Type="http://schemas.openxmlformats.org/officeDocument/2006/relationships/image" Target="/ppt/media/image.png" Id="Re0d66537ad184950" /><Relationship Type="http://schemas.openxmlformats.org/officeDocument/2006/relationships/notesSlide" Target="/ppt/notesSlides/notesSlide1.xml" Id="Re224bebfd4f44b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d5e46b1d0b4094" /><Relationship Type="http://schemas.openxmlformats.org/officeDocument/2006/relationships/notesSlide" Target="/ppt/notesSlides/notesSlide2.xml" Id="Rcbb0aa43d9b8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91d819aa84a6c" /><Relationship Type="http://schemas.openxmlformats.org/officeDocument/2006/relationships/image" Target="/ppt/media/image.jpeg" Id="Rf249db911fc54d57" /><Relationship Type="http://schemas.openxmlformats.org/officeDocument/2006/relationships/notesSlide" Target="/ppt/notesSlides/notesSlide3.xml" Id="R8743afe57670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d8195b1f141ca" /><Relationship Type="http://schemas.openxmlformats.org/officeDocument/2006/relationships/notesSlide" Target="/ppt/notesSlides/notesSlide4.xml" Id="R8f3f5782238246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8a91989b54785" /><Relationship Type="http://schemas.openxmlformats.org/officeDocument/2006/relationships/notesSlide" Target="/ppt/notesSlides/notesSlide5.xml" Id="R3eca2ca97cee4a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f5a7c8244e5b" /><Relationship Type="http://schemas.openxmlformats.org/officeDocument/2006/relationships/notesSlide" Target="/ppt/notesSlides/notesSlide6.xml" Id="R59be45b4a0c74c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5dfc7cce74432" /><Relationship Type="http://schemas.openxmlformats.org/officeDocument/2006/relationships/notesSlide" Target="/ppt/notesSlides/notesSlide7.xml" Id="R81045ba9412248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b0c6270f6441a3" /><Relationship Type="http://schemas.openxmlformats.org/officeDocument/2006/relationships/notesSlide" Target="/ppt/notesSlides/notesSlide8.xml" Id="R8c44257008e04b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ab43ea8bb48ab" /><Relationship Type="http://schemas.openxmlformats.org/officeDocument/2006/relationships/notesSlide" Target="/ppt/notesSlides/notesSlide9.xml" Id="R98c9f12a07244b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b079df3f340d2" /><Relationship Type="http://schemas.openxmlformats.org/officeDocument/2006/relationships/notesSlide" Target="/ppt/notesSlides/notesSlide10.xml" Id="R110d92a1943745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253bc5c044f1f" /><Relationship Type="http://schemas.openxmlformats.org/officeDocument/2006/relationships/notesSlide" Target="/ppt/notesSlides/notesSlide11.xml" Id="Rf27e9ab163eb4d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4174C0-EE66-4475-A3D7-F2393B92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108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A8042-FAAD-4CBA-B9E8-BE55D531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438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&lt;/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0891A3-F397-4C04-9546-07692CB5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5300"/>
            <a:ext cx="1562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474F5-EBBB-41CE-B02C-A7A12136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5300"/>
            <a:ext cx="266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9E82C-6F0D-4A93-8163-B0E6CF7E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609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AI-ASSISTED FEEDBACK-TO-FIX OPERATIONS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6B125-82BD-49AD-BAF2-E44F9793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1038225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364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Turn fragmented customer complaints into governed, evidence-backed product fixes.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BD9C6-8E66-481F-B5C8-C905E991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7810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A shared operating layer for Support Ops, Product Ops, and Engineering.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5A7B6-DAA4-4263-9D53-CEF7BDE4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9525">
            <a:solidFill>
              <a:srgbClr val="CECA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FFDC8-D6C5-4954-8C85-B9441A2B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9675"/>
            <a:ext cx="2305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PRIVATE-BETA PRODUCT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20A76-9F18-4EC3-9EB2-54AC5085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72175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C978A-02F3-42B8-945A-43DC0EC6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72175"/>
            <a:ext cx="3581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Design-partner conversation  •  July 2026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66537ad184950"/>
          <a:stretch xmlns:a="http://schemas.openxmlformats.org/drawingml/2006/main"/>
        </p:blipFill>
        <p:spPr>
          <a:xfrm xmlns:a="http://schemas.openxmlformats.org/drawingml/2006/main">
            <a:off x="11029950" y="476250"/>
            <a:ext cx="552450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968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E8A4AC-1CCA-446D-93D6-6AEEF7AD6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87D94-1395-4285-91DE-598D65EA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7883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The customer context disappears before engineering can 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79A85-EF4C-46C1-9146-41E07100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3E3B0-FC40-4025-BAB8-4ABB6BFE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75970-B7C8-4155-865D-C58D0A86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10382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Support, product, and engineering each hold only part of the story. The handoff loses the evidence needed to make a confident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4ADC0-D1BC-4E0A-ABD0-93E73BDA9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52959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9525">
            <a:solidFill>
              <a:srgbClr val="F4C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20C8C8-1804-453C-B5C7-E2D4E3FA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5295900" cy="3695700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9525">
            <a:solidFill>
              <a:srgbClr val="D6D2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2871A-2222-4CF9-9D20-E963CE93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3B52"/>
                </a:solidFill>
                <a:latin typeface="Helvetica Neue"/>
                <a:ea typeface="Helvetica Neue"/>
                <a:cs typeface="Helvetica Neue"/>
              </a:defRPr>
            </a:pPr>
            <a:r>
              <a:t>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91A42-527A-4FC7-AAED-C37DDF22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The report becomes a relay 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EFE06-D801-4260-8686-F7EFA1E4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F2F1B8-DCE3-4848-B71E-88D468C3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B52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A5C88-1BC7-49CE-AF71-F7CFEEB9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A ticket is copied into chat or a planning board.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F5AE2-6C5D-4F23-BFF7-F10DEDF2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A1932-450D-41D4-ACEC-366F95D4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B52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6BB12-F06F-4D6B-8D4A-25A19E8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2907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Account, revenue, and recurrence context drops away.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74352-DE02-443A-8E06-612C9AC5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A52E6-EC07-4775-9025-2F7F747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B52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53CB9A-5668-44FC-A3FC-86A59FAD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8152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Duplicates compete as separate product requests.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D2EFE-BC83-489C-BA45-6A8EE331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E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4CCA7-95B9-4F13-B797-F9807FCA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3B52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F2B24C-1541-4754-A80D-B5DDE3C7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3397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A shipped change is rarely tied back to the customer.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9CB96-33DB-466F-965B-3314CC0C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WHAT OPERATORS NEED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46B7C2-DD3A-4415-8F1A-33889E78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19400"/>
            <a:ext cx="447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369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One decision record, not another inbox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59E755-564E-41EE-A616-AA336E88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2425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44449-B6CE-4195-928D-A65CBD10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4330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0DF7BE-C4BF-4D26-979E-4C3FB6D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customer evidence stays linked and reviewable.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4A8EE9-1739-4B32-B91D-DCA3AB6B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767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0B5E1D-7524-49C6-8671-3B66AD72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781364-255C-49A4-A60D-BE6B03BA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2907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Related signals become one canonical problem.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24199-82AD-44E0-975D-05FD11FC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2915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BE6C03-91E4-48AB-A7FF-643D07E1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4820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80529-17D0-4947-A144-24F2AFD5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8152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Impact includes customer, account, and severity context.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F0468E-4351-4D58-8D1D-A73CDC75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81600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7E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E4CF0-CBAD-4BCF-A71B-27279EEC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00650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396975-7E58-4A4F-9E42-C0B638D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33975"/>
            <a:ext cx="4076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Approval, outcome, and follow-up stay attached.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819C77-B7E9-4209-8702-0CF3730A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A8C37C-5287-4481-8898-A2818E15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447208-FD3C-4162-B9E1-C522D8CD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55653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69BBE3-C675-4BA0-99C7-A05431A5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8F25B-2CC2-4AA9-ABFE-D1D03719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One evidence chain from signal to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DE296-1A58-4764-A6AE-D8E6B5EA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1D4F4-18BD-4FC0-B10F-FBDB2C2D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83448-6196-4C5D-B70D-3A0CF35E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4333875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connects support evidence, product impact, engineering context, human approval, and customer follow-up without replacing the systems teams already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58BAF-451E-479B-835A-1249AD7D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81325"/>
            <a:ext cx="409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One workspace answers four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CA341-8891-427E-BEED-6AD8C3E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528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F111F-7B75-40A1-A41A-270C1EAE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718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6AD6E-57E8-465C-9943-1A0C394C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39338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What are customers actually reporting?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58FF9-99EC-4716-BAF6-792469E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0527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778E20-9DC6-4430-939D-BF23E422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04B07-DE95-4CC9-BCA1-0B433A40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39338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Which problem is worth solving now?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98F46-9D4D-4AA8-946D-49AF8132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FF4C4-8387-4941-871F-9569692E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767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2A442A-87F9-4B60-977E-679B9F5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0100"/>
            <a:ext cx="39338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What evidence should engineering receive?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2EF529-A539-4242-81F7-3EBB3179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21924-64B7-44EF-80A6-33EEB135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2922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360140-2438-4BB3-AC91-3C1B806B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39338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Did the fix resolve the customer issue?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8A87A-1E4E-4723-AA25-A11F3136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524000"/>
            <a:ext cx="6267450" cy="4514850"/>
          </a:xfrm>
          <a:prstGeom xmlns:a="http://schemas.openxmlformats.org/drawingml/2006/main" prst="roundRect">
            <a:avLst>
              <a:gd name="adj" fmla="val 1688"/>
            </a:avLst>
          </a:prstGeom>
          <a:solidFill xmlns:a="http://schemas.openxmlformats.org/drawingml/2006/main">
            <a:srgbClr val="080D19"/>
          </a:solidFill>
          <a:ln xmlns:a="http://schemas.openxmlformats.org/drawingml/2006/main" w="9525">
            <a:solidFill>
              <a:srgbClr val="242E4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A8A61-78A4-4728-B19C-1D8E7C3C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86475"/>
            <a:ext cx="60388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Illustrative workspace with sample data. Not customer results.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D0F6F-3DD1-408B-9300-2109355A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C752F-8D18-4EDD-9655-9FB0FE15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8EF31-5552-4F44-8893-F1A2F523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9db911fc54d57"/>
          <a:srcRect xmlns:a="http://schemas.openxmlformats.org/drawingml/2006/main" l="8418" t="0" r="84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638300"/>
            <a:ext cx="60388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</p:spTree>
    <p:extLst>
      <p:ext uri="{BB962C8B-B14F-4D97-AF65-F5344CB8AC3E}">
        <p14:creationId xmlns:p14="http://schemas.microsoft.com/office/powerpoint/2010/main" val="4541597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98211B-4024-4D3A-92BE-76906E06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EB6B5-E584-49B2-A438-FDB0DF9D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operating loop has three accountable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C09A7-DFEA-442D-B327-CCC8EACB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75B09D-6C46-4DC1-8AAD-F9FF769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64E8D-232B-4463-8CA3-688A4883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Automation prepares the evidence. People own prioritization, action, and release confidence.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7F0E9-B6D0-4088-AA51-03B30B33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95575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23A01-4D44-4F25-A029-9234ADC0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3028950" cy="36004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1CB73-8C71-45F2-83EB-6EC8F919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371725"/>
            <a:ext cx="704850" cy="704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0349E-9DB0-4049-9161-8CAD9704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590800"/>
            <a:ext cx="704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3EC28-7AB8-4D02-A4DA-75EBB1C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49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C6353-8011-4AA3-85C1-2EA1456A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Listen + cluster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8526E-186A-443A-9B2A-B4E035A5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Ingest reports, preserve source links, and propose recurring problem clusters with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FB691-1351-43F6-B8DC-29EC962F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33600"/>
            <a:ext cx="3028950" cy="36004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76E2BE-5337-4A58-83D9-7ABEEDC5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71725"/>
            <a:ext cx="704850" cy="704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E01C3-CFB7-4DF3-B1CF-51750E06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90800"/>
            <a:ext cx="704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7B6B7D-6D84-4813-BCF1-F424A25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71850"/>
            <a:ext cx="249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0BE9F-8E06-404D-BA81-7F5508BF6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Rank + investigate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FFE16-080A-43EE-8B40-808F5C17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86250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Combine customer impact, recurrence, severity, and technical context into a reviewable brief.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03DA2-F410-4204-BCB4-476A9E0D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3028950" cy="36004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997C7C-26B3-492B-87CC-1403C377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71725"/>
            <a:ext cx="704850" cy="70485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58D750-5B0E-48DD-AE72-8FC41B76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90800"/>
            <a:ext cx="704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BC5481-D506-4F7A-870E-1F162855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71850"/>
            <a:ext cx="2495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CLOSE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F3A0CC-EC7E-4BA8-9373-6CA8CBF4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4955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+ 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0FDC6-43F3-4989-A229-5E221900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3812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the next action, attach release evidence, and follow up with affected customers.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C089B-B8E9-437E-BFA6-90A0F13B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93F9D-A1B7-4BE7-A462-859E49B4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0C04F4-2C29-4839-96A5-8E4378F7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451431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2D52CE-38F0-4EF6-BB2B-50DE7988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6F8E0-A3F5-42C2-B02C-AB245054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Every problem becomes a persistent, correctable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E055E-C9DF-4E3E-ACF4-20F6AAC3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64638-4332-45C3-A3F7-DC1DC591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34871-322D-48E4-9B1E-FAA04F9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9906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 can propose a structure. The organization keeps a durable record that people can review and correct.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A0A07-F7FF-4D23-A724-96001E98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1CFED-D43C-44B8-920C-DB54AF8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EEDA5-6EF2-4728-A93B-A02F3EE5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2CFC1-F094-4EB7-800D-0DBA6E14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5267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15A2E-C3A7-4E57-A09A-18561F7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Raw message, source, timestamp, and evidence link.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D84452-11AB-44E9-9E66-3EB32496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5265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ED177-45B9-46D8-9439-CEDDE75D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24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BDA7F1-3380-4AEA-AA46-AC312E1D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479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59082-181E-4536-A10A-DE64BCCB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5267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6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Customer + account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A2AA0-F0C6-4522-B0CE-A93EE6C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9560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Requester, company, segment, and commercial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DC0A9-3226-41A2-8E7B-2421CFC7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5265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93D07-D563-4FEC-B5AA-D4AB0E46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24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7D597-DA02-4A60-8A0F-342E131F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479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BA9C5-CA0C-4640-85CE-BCDE145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5267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Problem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EF3EF0-4F06-405E-8DE5-F1AD6C31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9560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A canonical issue that related reports can join.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94C00D-24FF-4E4D-9810-D726047F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5265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CF859E-A33A-4F4F-81EC-CEF69E0A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241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004EAB-268E-452C-AC4F-1C19C40A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44792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16738-6C61-46A7-966C-0D93DF7E1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35267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Impact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A9D89-D8DB-4174-9B94-75F430E3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9560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Frequency, severity, customer reach,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10723-79A8-494E-ADB7-02E48A20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AA9B61-EE43-466A-ABCF-CCFEB050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9F3B6C-5E8B-416E-8C9A-EFA2530F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E8526-6AE7-49DF-B73C-55297DF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0052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84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Technical hypothesis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2197CA-864B-4A93-A148-826F403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Likely surface, ownership, and uncertainty.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23AC5-0525-457F-BF47-B0C10EB2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F92D7-F58A-46E1-8433-16EEBD9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71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8174DD-57ED-4E30-B61C-3B63074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9577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94FFD7-51DD-4339-B29D-9A52C256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20052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8E7E2D-ED53-4FBF-B9E6-98D8BBB8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4345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Who approved, rejected, or redirected the work.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A38D8B-CD06-441B-9D04-378A6C3C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4853DA-C2C1-4538-8D1A-E8B322B7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71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3C8591-5F90-4738-AB8B-0DB429F5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9577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294F51-8CAB-4B1F-BD43-320ED5CA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0052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Release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85A937-2D65-466E-97DA-C67DB289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4345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Issue, pull request, deployment, or verification note.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2239DD-A76E-4111-B305-A8FDB08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000500"/>
            <a:ext cx="25908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B65AE2-7173-405F-917D-EF88DDF3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719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029A1E-8EB9-4034-9157-8BDB6E3B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95775"/>
            <a:ext cx="4000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7F458F-7E2F-430D-8F80-E97C7D10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200525"/>
            <a:ext cx="167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Follow-up status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AB6B86-DD7E-4D14-90D5-EB2FC0F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43450"/>
            <a:ext cx="22098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Who needs an update and whether the loop is closed.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4DE1CC-0515-4354-93B2-82532450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576C13-63EA-454B-8F59-7043C3D6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04DEAE-69AD-4BE3-BBFA-9450191A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346793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D8FFFF-A61F-4B07-B3B6-CD6C8FDF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TEAM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576B4-F1A3-4B94-AEE3-434EF9DE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One workspace aligns the teams that own the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C528B-BE83-433C-82FD-2F6AD2EC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93A72-9CEF-4B02-8A08-592CB254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98357-10BB-4FDE-84F1-B74939E3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8763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Each role keeps its domain expertise while sharing the same problem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1F6E1-3AF4-4FD7-A81D-DB1A7082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3028950" cy="391477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8C2B8-A6FA-4882-ADB6-14C222A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05025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4C8C38-1FAC-4BEE-A012-1E155DE5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28875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SUPPORT OPERATIONS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0D683D-55B1-4421-AFAD-A8F67600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2533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Preserve the voice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449B15-3A1E-42E4-9822-00F75AD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THEY SEE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3EE31-BF25-4EF7-BEA4-9A3C092A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2533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Original reports, repeat complaints, customer details, and source quality.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84840-AE09-401D-A7C1-8FA85596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864FAA-D0F2-45D1-B405-9DA95464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WHAT CHANGES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F8C8D-0FF2-42B1-AA9B-C83B387C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38775"/>
            <a:ext cx="2533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Stops rebuilding the same context for every escalation.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3B598-F96F-4654-A51A-68EC2B20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05025"/>
            <a:ext cx="3028950" cy="391477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9525">
            <a:solidFill>
              <a:srgbClr val="CEC9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AEFA1-E1E4-4DAE-9051-A7B2B89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05025"/>
            <a:ext cx="302895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47DAF0-B84E-4DBB-B6BE-1731D24A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87804-28F9-4781-8E3B-04D53FF8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9875"/>
            <a:ext cx="2533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Govern the 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74C1F-BC66-4445-8F85-B6CDBC43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67125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THEY SEE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D80DCE-6F90-4448-B24D-9861EC00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71925"/>
            <a:ext cx="2533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Problem clusters, reach, account impact, severity, and confidence.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3A96B-26E1-4E0F-81ED-4A5DDD3F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3395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B62CC8-3A07-40B0-B70A-6D9E70CC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435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WHAT CHANGES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83F23-F292-43E1-B113-291A0231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38775"/>
            <a:ext cx="2533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Turns anecdotes into a transparent prioritization record.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A2BE0-9C53-4BE9-816E-1875664EB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05025"/>
            <a:ext cx="3028950" cy="3914775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C8FF88-F20C-4196-B6EA-C8A568D2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05025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1E19E-3B2E-4267-A4BD-F06ECDB2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42BFD4-05CE-4FAF-9D76-5806D5D7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25336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567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Receive usable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5E6621-9C9C-4FEE-95F4-92F9F64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67125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WHAT THEY SEE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D0DE7-81C0-44C0-B632-DF5FCD7E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71925"/>
            <a:ext cx="2533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Reproduction details, linked reports, ownership hints, and uncertainty.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06A2E8-2F54-4C29-A6E9-9CC67C7F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3395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1C305-E37F-4425-9A40-95ABE83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209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WHAT CHANGES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69287-8391-4FC4-B6AB-E709C4DD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38775"/>
            <a:ext cx="2533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Starts from an evidence-backed brief instead of a forwarded ticket.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3DC34-A635-4B63-9885-5F25AB12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4FDEA4-A6EB-459B-84A1-9A85537C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FC488E-58A9-47DA-821C-0ECB5ABC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00779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ACC03-12F0-4981-87F7-E2E73041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GOVERNED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5609A-6CF3-453B-BD22-E4F0BAB1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AI prepares the work. Managers keep the authority.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75EFB-6E5B-49C6-AAFB-A8A17709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AA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19AE9D-F514-48C6-A373-B62DD796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2FCA6-8C66-4B27-B2B8-93561D2A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98107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2C6"/>
                </a:solidFill>
                <a:latin typeface="Helvetica Neue"/>
                <a:ea typeface="Helvetica Neue"/>
                <a:cs typeface="Helvetica Neue"/>
              </a:defRPr>
            </a:pPr>
            <a:r>
              <a:t>Model output stays a proposal until a person reviews the evidence and chooses the next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144E8-9DA9-4FE7-B33F-8C26BF64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3028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936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515E2-304C-4E2F-982F-8F8FE95D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05FE8-2323-44FB-AD83-308EA1F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4EFFD1-3F1C-44AC-B0BA-23DDA8E9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F8F5F-D08C-4FB8-9351-1DFB5AE5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2533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Sources, confidence, and assumptions remain attached to the recommendation.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96ABE-D7B8-4988-AD26-9A133F1D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28850"/>
            <a:ext cx="3028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93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120EC-9D3E-43DE-A0CB-42FFA1DE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2D749-C48E-40C5-AF26-782FCE16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C720C1-F0CB-4F96-B72F-6F46C4FB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SCOPE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C8957A-AAB6-4D16-96FA-FBCB584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52825"/>
            <a:ext cx="2533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The UI states which systems, data, and permissions an action would 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E68356-711B-47E4-88C0-956463DE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28850"/>
            <a:ext cx="302895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93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6D2F7-3530-4564-AAB9-4728F8DC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57450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49CE70-8959-4827-A764-9441FCB0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419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2CC6A-54CE-43A8-8106-8B980BF9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33725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 VISIBLE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11775-4224-473A-A034-67B7E64A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52825"/>
            <a:ext cx="25336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Approve, reject, or redirect before an external action can leave CloseSpan.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55980A-E811-4DB8-AB1A-8B15ABA4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10648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61F39"/>
          </a:solidFill>
          <a:ln xmlns:a="http://schemas.openxmlformats.org/drawingml/2006/main" w="9525">
            <a:solidFill>
              <a:srgbClr val="3B438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F10A2-F500-4BE1-9567-CE8788D6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THE MANAGER DECIDES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DD5D2-916B-4978-BC34-303AF9E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4000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Approve  •  Reject  •  Redirect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CB637E-EF7D-4AF1-96E8-BE58AC4D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324475"/>
            <a:ext cx="525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B8C1D1"/>
                </a:solidFill>
                <a:latin typeface="Helvetica Neue"/>
                <a:ea typeface="Helvetica Neue"/>
                <a:cs typeface="Helvetica Neue"/>
              </a:defRPr>
            </a:pPr>
            <a:r>
              <a:t>The system records who decided, what evidence they saw, and what happened next.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84C9B9-82E2-466E-A674-3CD66A0D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CEAE6-6DF2-4543-B412-71DF95B0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090A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8561FF-D1A1-4CA5-BE68-BD552D0F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90AA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07868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6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E74B7B-FF44-4826-A12C-B761438C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103C85-4D97-4538-B8F2-36BDE2B4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Built above the stack, with durable state in PostgreSQL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14074-F81C-4CC6-A5BF-90763B6B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282663-E198-4392-AACD-FB8BE1F7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1ED99-094C-4B5C-8A5A-7DB9D28E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10382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separates authorization, import, intelligence, synchronization, and external action so teams can see what is truly live.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1AD49-88E5-4522-A1DF-AEE7C48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2590800" cy="30194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4C16A-D620-4BAC-8E18-132C5BF2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81225"/>
            <a:ext cx="2590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BE2B9-1431-4881-B4E0-263536A0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6C51A-40A1-474D-BE11-83C0452C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Feedback + auth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60BAD-AB2B-4898-A3E7-BD0D9A2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1717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Pipedream-hosted authorization. Signed webhook and bounded Zendesk pull can ingest now.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F840DF-7B3B-4A4D-82EB-1D7C3967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81225"/>
            <a:ext cx="2590800" cy="30194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4A03D-C856-46C9-ADFE-9990EAB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81225"/>
            <a:ext cx="2590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D094E-D7E4-442E-B232-76F54504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4765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F9EA5B-4DB3-43A6-85BD-A136E3DB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146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intelligence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A7ACE1-1C38-4762-AE52-5845C6EB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733800"/>
            <a:ext cx="21717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Model output is parsed, redacted, and saved as reviewable proposals.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D8FE8-7704-4436-BB02-42983918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2590800" cy="30194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3AAA1-52C1-4B0B-B069-F7F0F46B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259080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D3759C-C217-41ED-812D-15FA8F14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822D69-4545-43CE-8AB3-FE1A5DAF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Durable source of truth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0EEC12-D91E-4571-95E0-E5DBF43D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1717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Organization-scoped PostgreSQL stores problems, decisions, and audit events.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12747-C3FA-42EE-ADFE-96E76427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81225"/>
            <a:ext cx="2590800" cy="3019425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3DB962-3979-408B-98DE-F01E74F5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81225"/>
            <a:ext cx="2590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E0F79-E5FE-4394-AE77-940D425E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361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537FB4-3CE9-42CD-82DF-E392A73D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14650"/>
            <a:ext cx="2171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 handoff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5FA35-5E17-4784-BD9A-9D5BCB2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33800"/>
            <a:ext cx="21717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Approval-ready briefs today. Live provider writes are a planned production gate.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B3B8A0-695D-4B9C-AE2E-0913A650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489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0D6A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0B906-A2D9-4358-BA63-AE3CF085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1239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46512"/>
                </a:solidFill>
                <a:latin typeface="Helvetica Neue"/>
                <a:ea typeface="Helvetica Neue"/>
                <a:cs typeface="Helvetica Neue"/>
              </a:defRPr>
            </a:pPr>
            <a:r>
              <a:t>STATE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C2560B-2273-4B3B-A99F-7E5AB9DC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0225"/>
            <a:ext cx="7277100" cy="2762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Connected ≠ imported ≠ synchronized ≠ authorized to write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4B2C32-4D46-41FE-A969-4CE769F6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48325"/>
            <a:ext cx="1790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46512"/>
                </a:solidFill>
                <a:latin typeface="Helvetica Neue"/>
                <a:ea typeface="Helvetica Neue"/>
                <a:cs typeface="Helvetica Neue"/>
              </a:defRPr>
            </a:pPr>
            <a:r>
              <a:t>Capability labels stay explicit.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32E357-7B46-4BBF-A549-27C8BD90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858272-148C-4601-9D8E-625CECE3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F8381A-22F6-442F-9939-EF788D8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719595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E27D95-36B7-4F35-B8C5-13CC8C35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DESIGN-PARTNER OFFER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8A6AB-08C1-48AE-95E4-D3D54C8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one recurring defect and prove 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86A3F-D3BD-4C27-A582-EA8C898F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BCA94-362A-4F4A-AE9D-84BC2E73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088B7-AC09-45B8-B4D4-EABB5C91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9906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The pilot is designed to test the operating model before either side assumes a broad production rollout.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7CE43-6490-423E-B113-CA6B098E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3028950" cy="36766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22AAD-16BE-4B87-BDA8-51DDE60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9825"/>
            <a:ext cx="25336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EVALUATION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F8C03-A49E-42AD-AD4F-88BA83E9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86075"/>
            <a:ext cx="2533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$0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AD5B5-E165-4686-BD3D-D2EF9836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2533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Seeded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49CD7-C564-4F55-A7F7-ADDCED0C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533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Explore the operating model with sample evidence and no customer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B7F65-918D-4F46-A3F9-F6AB065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E6F002-1951-4696-AB41-8790B6F9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Fit 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3A8EF4-EEEA-4396-996C-09FE02E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028950" cy="36766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4F3FF"/>
          </a:solidFill>
          <a:ln xmlns:a="http://schemas.openxmlformats.org/drawingml/2006/main" w="9525">
            <a:solidFill>
              <a:srgbClr val="C9C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42F83-536E-4254-A8E7-BDA297BD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028950" cy="762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2DA79-A0EC-46F8-8CD9-1CDCF8C9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9825"/>
            <a:ext cx="25336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DESIGN-PARTNER PILOT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FCD25-11B9-4F6E-BC2C-0837D594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86075"/>
            <a:ext cx="2533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$1,500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0060D1-825A-4605-B3BE-F14C5EF6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33775"/>
            <a:ext cx="2533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Six weeks, one real 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95134-75DE-42F4-82D9-DE6986C2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2533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 one recurring defect from source evidence through review and a verified outcome.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B78AA-B5DE-4495-82D6-5DB2DE2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29822-439F-4ABB-9D05-4A2611C6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1020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46E5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Recommended starting point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0E9652-8DF0-4B32-AF0A-384E5AB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3028950" cy="36766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3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FEB9F-0D33-4056-9520-6C46BBA6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09825"/>
            <a:ext cx="2533650" cy="20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SCALE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C5061-9E43-43AF-9E3D-27DF1CEF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86075"/>
            <a:ext cx="2533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Custom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10E0B-0F4C-4DED-9482-D72D46FA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33775"/>
            <a:ext cx="25336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238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Validated requirements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FD9FE-5931-42DF-8752-692EEC5E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25336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Define connector, security, governance, and workflow needs before a broader rollout.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CF7BD1-3930-43CF-A1AE-7AD5B78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2533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0C14E-453D-4F93-9984-A6F1C99C8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10200"/>
            <a:ext cx="2533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After pilot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E8FD8-D9C4-419F-A365-647E9937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535EA4-9874-47A8-AC5F-898CA9EE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5F1099-691F-42D9-BAAF-6D7991F1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0708A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52341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54A26F-4265-4A79-94B4-B2A8A0DA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238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MATURITY AND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A951C-FD5E-49A6-A6BC-AE39A843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572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Private beta is intentionally narrow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831DC-ED43-4A95-8958-A43CAF1E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19100"/>
            <a:ext cx="342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8090AA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80BF9-D563-4B89-9A99-D8468527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04925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267F8-CE78-491F-BC02-E92081B9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57325"/>
            <a:ext cx="103822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7B2C6"/>
                </a:solidFill>
                <a:latin typeface="Helvetica Neue"/>
                <a:ea typeface="Helvetica Neue"/>
                <a:cs typeface="Helvetica Neue"/>
              </a:defRPr>
            </a:pPr>
            <a:r>
              <a:t>The product demonstrates the operating model today. The remaining work is production hardening, not a hidden claim of autonomy.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8B4AC-1EE1-4B1F-BED5-F43E1179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51054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A31"/>
          </a:solidFill>
          <a:ln xmlns:a="http://schemas.openxmlformats.org/drawingml/2006/main" w="9525">
            <a:solidFill>
              <a:srgbClr val="2A3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50A96E-7D7E-4C2F-898F-0B4BDFAB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71700"/>
            <a:ext cx="51054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0D1426"/>
          </a:solidFill>
          <a:ln xmlns:a="http://schemas.openxmlformats.org/drawingml/2006/main" w="9525">
            <a:solidFill>
              <a:srgbClr val="2A3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C26AE-4929-4BD8-B286-464B33E8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47925"/>
            <a:ext cx="2381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3DEC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121F7-5954-459D-899F-4E273EE1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private-beta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EEB2A-4461-4223-BAD3-CCE9BD9C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4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164D6-7D66-43C2-8BF6-7CE620CF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718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3DEC0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434B74-B986-49AA-92CB-39F16BE6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052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PostgreSQL-backed workspace and durable records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0F9F8-C873-44BE-B273-EB47BCA8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4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B978F-9089-4852-ABF5-4333AFE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052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3DEC0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0E8E1-C39B-48D8-B7EF-20AF726F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386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Google identity and organization-aware application logic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06BD7-0592-4C0A-9F2F-28B0D97B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96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4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F02D9-F747-473D-956C-306EE43D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3DEC0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510C0E-FD48-438B-AE3C-4E9885E3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720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Governed AI review with explicit confidence and assumptions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7421EB-2CA6-4B79-9E81-360B7E96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530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143A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6E469-0C21-425D-A9D3-E6ECD25A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3DEC0"/>
                </a:solidFill>
                <a:latin typeface="Helvetica Neue"/>
                <a:ea typeface="Helvetica Neue"/>
                <a:cs typeface="Helvetica Neue"/>
              </a:defRPr>
            </a:pPr>
            <a: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0BBA3-8823-4336-8863-E6A56C9E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054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Pipedream authorization, webhook ingestion, and Zendesk manual pull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F044FA-199A-4ACB-9B6F-00ADD4B2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47925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NEXT PRODUCTION GATES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32F2E-1136-45A0-A7F1-7DB95349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00350"/>
            <a:ext cx="4095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Required before broader rollout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E9202-7067-46FE-8804-E4004368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528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5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802BD9-0ED1-4355-848E-ECEB74DF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718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66BD1F-35B5-4BC8-8BBA-89F90244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052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Continuous connector workers and recovery paths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5BCE92-F374-49E7-99E2-3D7FC452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862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5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C86AD-5FCC-433D-B063-70C42A1B8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052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86164C-A93D-4434-839D-25575182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Repository and release ingestion for technical verification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66B5B-8BB1-4135-9AFF-6FA5CC38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96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5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51217A-0EA9-4BC3-817B-DFA702C7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386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ED6208-5988-4836-BF58-049D7C7D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720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Approval-bound provider writes for issues and pull requests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9A1A75-D2C6-41F8-88A2-CDDDB316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53025"/>
            <a:ext cx="238125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52B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80986B-56D7-4E07-8F36-C938E223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72075"/>
            <a:ext cx="238125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17D65A-D1DB-4EA5-A836-8995F4A6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105400"/>
            <a:ext cx="38862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DEA"/>
                </a:solidFill>
                <a:latin typeface="Helvetica Neue"/>
                <a:ea typeface="Helvetica Neue"/>
                <a:cs typeface="Helvetica Neue"/>
              </a:defRPr>
            </a:pPr>
            <a:r>
              <a:t>Row-level isolation, retention, deletion, and audit hardening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CEB1F2-ABD1-4171-8742-A3054A37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E82615-6CC1-48DA-9D7E-7228CF6D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2857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090AA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  •  PRIVATE BETA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5AE0E-0C5D-4322-A90A-322B25AD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34150"/>
            <a:ext cx="342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090AA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8806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0D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7BABF-7C41-43BB-AE37-ABF44487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B3256-3072-4590-95CC-087760AF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66750"/>
            <a:ext cx="47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56CFF"/>
                </a:solidFill>
                <a:latin typeface="Helvetica Neue"/>
                <a:ea typeface="Helvetica Neue"/>
                <a:cs typeface="Helvetica Neue"/>
              </a:defRPr>
            </a:pPr>
            <a:r>
              <a:t>&lt;/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F8B34-72DB-447A-BDD6-9235B145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666750"/>
            <a:ext cx="1600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B95FF0-35DC-42CC-A41B-CBC2F63B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666750"/>
            <a:ext cx="266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756CFF"/>
                </a:solidFill>
                <a:latin typeface="Helvetica Neue"/>
                <a:ea typeface="Helvetica Neue"/>
                <a:cs typeface="Helvetica Neue"/>
              </a:defRPr>
            </a:pPr>
            <a:r>
              <a:t>&gt;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78AFF3-25C4-4F4E-80BE-87484FF1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09750"/>
            <a:ext cx="8572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Let one customer problem prove the operating model.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596D11-1373-446D-9B0A-8B179ED1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33750"/>
            <a:ext cx="7277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B8C1D1"/>
                </a:solidFill>
                <a:latin typeface="Helvetica Neue"/>
                <a:ea typeface="Helvetica Neue"/>
                <a:cs typeface="Helvetica Neue"/>
              </a:defRPr>
            </a:pPr>
            <a:r>
              <a:t>Bring the recurring defect that keeps crossing teams. CloseSpan will help turn it into a reviewed evidence chain, an approved action, and a verifiable outcome.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5DFB7-1208-471C-828A-7D6912AD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95825"/>
            <a:ext cx="4191000" cy="666750"/>
          </a:xfrm>
          <a:prstGeom xmlns:a="http://schemas.openxmlformats.org/drawingml/2006/main" prst="roundRect">
            <a:avLst>
              <a:gd name="adj" fmla="val 11429"/>
            </a:avLst>
          </a:prstGeom>
          <a:gradFill xmlns:a="http://schemas.openxmlformats.org/drawingml/2006/main">
            <a:gsLst>
              <a:gs pos="0">
                <a:srgbClr val="756CFF"/>
              </a:gs>
              <a:gs pos="100000">
                <a:srgbClr val="5147DB"/>
              </a:gs>
            </a:gsLst>
            <a:lin ang="8100000"/>
          </a:gradFill>
          <a:ln xmlns:a="http://schemas.openxmlformats.org/drawingml/2006/main" w="9525">
            <a:solidFill>
              <a:srgbClr val="756C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54BCF4-4DCF-4520-AEF9-7977C532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14900"/>
            <a:ext cx="3733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DISCUSS A DESIGN-PARTNER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2CB0F-EF99-4B60-9084-8A49DEBC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876925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closespan.com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9741BF-9AD5-4B6A-BE27-FC0DC493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876925"/>
            <a:ext cx="238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9A4FF"/>
                </a:solidFill>
                <a:latin typeface="Helvetica Neue"/>
                <a:ea typeface="Helvetica Neue"/>
                <a:cs typeface="Helvetica Neue"/>
              </a:defRPr>
            </a:pPr>
            <a:r>
              <a:t>shanmukhsain@gmail.com</a:t>
            </a:r>
          </a:p>
        </p:txBody>
      </p:sp>
    </p:spTree>
    <p:extLst>
      <p:ext uri="{BB962C8B-B14F-4D97-AF65-F5344CB8AC3E}">
        <p14:creationId xmlns:p14="http://schemas.microsoft.com/office/powerpoint/2010/main" val="10736248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2026-07-23T23:07:07.6220000Z</dcterms:created>
  <dcterms:modified xsi:type="dcterms:W3CDTF">2026-07-23T23:07:07.6220000Z</dcterms:modified>
</coreProperties>
</file>